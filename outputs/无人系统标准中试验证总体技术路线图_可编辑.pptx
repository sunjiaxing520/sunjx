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59dd8432784fc4" /><Relationship Type="http://schemas.openxmlformats.org/officeDocument/2006/relationships/extended-properties" Target="/docProps/app.xml" Id="R68bce88cfd964f91" /><Relationship Type="http://schemas.openxmlformats.org/officeDocument/2006/relationships/officeDocument" Target="/ppt/presentation.xml" Id="R4ab6dbcd252b4c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d804b911bf447d"/>
  </p:sldMasterIdLst>
  <p:notesMasterIdLst>
    <p:notesMasterId xmlns:r="http://schemas.openxmlformats.org/officeDocument/2006/relationships" r:id="Rcf001bcec80646b5"/>
  </p:notesMasterIdLst>
  <p:sldIdLst>
    <p:sldId xmlns:r="http://schemas.openxmlformats.org/officeDocument/2006/relationships" id="256" r:id="R3189b0f7836b4d7d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c88464e9864830" /><Relationship Type="http://schemas.openxmlformats.org/officeDocument/2006/relationships/slideMaster" Target="/ppt/slideMasters/slideMaster1.xml" Id="R40d804b911bf447d" /><Relationship Type="http://schemas.openxmlformats.org/officeDocument/2006/relationships/notesMaster" Target="/ppt/notesMasters/notesMaster1.xml" Id="Rcf001bcec80646b5" /><Relationship Type="http://schemas.openxmlformats.org/officeDocument/2006/relationships/presProps" Target="/ppt/presProps.xml" Id="R16cb114d2c584f1d" /><Relationship Type="http://schemas.openxmlformats.org/officeDocument/2006/relationships/tableStyles" Target="/ppt/tableStyles.xml" Id="R2d0781f978c6484e" /><Relationship Type="http://schemas.openxmlformats.org/officeDocument/2006/relationships/slide" Target="/ppt/slides/slide1.xml" Id="R3189b0f7836b4d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24f302603142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c96fe5a03d4cf8" /><Relationship Type="http://schemas.openxmlformats.org/officeDocument/2006/relationships/notesMaster" Target="/ppt/notesMasters/notesMaster1.xml" Id="R08ac43b0e5f24c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3866da824846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b77bdc72f549ed" /><Relationship Type="http://schemas.openxmlformats.org/officeDocument/2006/relationships/slideLayout" Target="/ppt/slideLayouts/slideLayout1.xml" Id="R2faa5dff11134a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aa5dff11134a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144520d303457e" /><Relationship Type="http://schemas.openxmlformats.org/officeDocument/2006/relationships/notesSlide" Target="/ppt/notesSlides/notesSlide1.xml" Id="R8376c93be44f4b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9121EF5C-E322-4C0B-B987-16AF93EB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52875"/>
            <a:ext cx="523875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4D91"/>
          </a:solidFill>
          <a:ln xmlns:a="http://schemas.openxmlformats.org/drawingml/2006/main" w="9525">
            <a:solidFill>
              <a:srgbClr val="0B4D9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3C947C-1400-4B47-9339-A46648D4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3952875"/>
            <a:ext cx="523875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4D91"/>
          </a:solidFill>
          <a:ln xmlns:a="http://schemas.openxmlformats.org/drawingml/2006/main" w="9525">
            <a:solidFill>
              <a:srgbClr val="0B4D9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ECB058-44F9-4ABF-8226-12B776EC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5400675"/>
            <a:ext cx="809625" cy="228600"/>
          </a:xfrm>
          <a:prstGeom xmlns:a="http://schemas.openxmlformats.org/drawingml/2006/main" prst="leftRightArrow">
            <a:avLst/>
          </a:prstGeom>
          <a:solidFill xmlns:a="http://schemas.openxmlformats.org/drawingml/2006/main">
            <a:srgbClr val="0B4D91"/>
          </a:solidFill>
          <a:ln xmlns:a="http://schemas.openxmlformats.org/drawingml/2006/main" w="9525">
            <a:solidFill>
              <a:srgbClr val="0B4D9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4D73E-083B-4A7E-801A-8A84218C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695325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4D91"/>
          </a:solidFill>
          <a:ln xmlns:a="http://schemas.openxmlformats.org/drawingml/2006/main" w="9525">
            <a:solidFill>
              <a:srgbClr val="0B4D9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49D61-5F99-423D-A68B-B47631B4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95325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4D91"/>
          </a:solidFill>
          <a:ln xmlns:a="http://schemas.openxmlformats.org/drawingml/2006/main" w="9525">
            <a:solidFill>
              <a:srgbClr val="0B4D9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75474-D23C-4565-ACFC-59541329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95325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4D91"/>
          </a:solidFill>
          <a:ln xmlns:a="http://schemas.openxmlformats.org/drawingml/2006/main" w="9525">
            <a:solidFill>
              <a:srgbClr val="0B4D9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ED63B-A425-4F7A-BF5D-3C843D42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76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386F"/>
                </a:solidFill>
              </a:defRPr>
            </a:pPr>
            <a:r>
              <a:rPr sz="1350" b="1">
                <a:solidFill>
                  <a:srgbClr val="07386F"/>
                </a:solidFill>
              </a:rPr>
              <a:t>研究内容｜三—3.8 方法总体框架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B519BF-3146-4091-AC27-FD248520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524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386F"/>
                </a:solidFill>
              </a:defRPr>
            </a:pPr>
            <a:r>
              <a:rPr sz="2700" b="1">
                <a:solidFill>
                  <a:srgbClr val="07386F"/>
                </a:solidFill>
              </a:rPr>
              <a:t>无人系统标准中试验证总体技术路线图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741EAC-6568-46EB-BC8A-C5520158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95350"/>
            <a:ext cx="1209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354"/>
                </a:solidFill>
              </a:defRPr>
            </a:pPr>
            <a:r>
              <a:rPr sz="1275" b="1">
                <a:solidFill>
                  <a:srgbClr val="183354"/>
                </a:solidFill>
              </a:rPr>
              <a:t>构建软硬协同、虚实映射的标准中试验证技术路线，形成“标准要求—虚实验证—结果评价—标准迭代”的全流程闭环体系。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666D85-2AB8-41C0-AD19-52998296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14450"/>
            <a:ext cx="2333625" cy="6096000"/>
          </a:xfrm>
          <a:prstGeom xmlns:a="http://schemas.openxmlformats.org/drawingml/2006/main" prst="roundRect">
            <a:avLst>
              <a:gd name="adj" fmla="val 816"/>
            </a:avLst>
          </a:prstGeom>
          <a:solidFill xmlns:a="http://schemas.openxmlformats.org/drawingml/2006/main">
            <a:srgbClr val="FFF9F7"/>
          </a:solidFill>
          <a:ln xmlns:a="http://schemas.openxmlformats.org/drawingml/2006/main" w="9525">
            <a:solidFill>
              <a:srgbClr val="E1B8B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245C9C-2DFA-4293-956B-AF221693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14450"/>
            <a:ext cx="2333625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9D221C"/>
          </a:solidFill>
          <a:ln xmlns:a="http://schemas.openxmlformats.org/drawingml/2006/main" w="9525">
            <a:solidFill>
              <a:srgbClr val="9D22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支撑层（输入与保障）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969973-B3CC-4B75-891F-2DE66299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8288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5312F"/>
                </a:solidFill>
              </a:defRPr>
            </a:pPr>
            <a:r>
              <a:rPr sz="1800" b="1">
                <a:solidFill>
                  <a:srgbClr val="D5312F"/>
                </a:solidFill>
              </a:rPr>
              <a:t>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5E14D6-D2F9-4BBA-8634-CBFB0240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383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5312F"/>
                </a:solidFill>
              </a:defRPr>
            </a:pPr>
            <a:r>
              <a:rPr sz="1200" b="1">
                <a:solidFill>
                  <a:srgbClr val="D5312F"/>
                </a:solidFill>
              </a:rPr>
              <a:t>标准体系支撑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0827FF-BD2D-4352-801D-C60D64C3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354"/>
                </a:solidFill>
              </a:defRPr>
            </a:pPr>
            <a:r>
              <a:rPr sz="1050" b="0">
                <a:solidFill>
                  <a:srgbClr val="183354"/>
                </a:solidFill>
              </a:rPr>
              <a:t>•  国内外标准条款库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D62984-77EB-4D5A-B670-F0E3D4C0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193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354"/>
                </a:solidFill>
              </a:defRPr>
            </a:pPr>
            <a:r>
              <a:rPr sz="1050" b="0">
                <a:solidFill>
                  <a:srgbClr val="183354"/>
                </a:solidFill>
              </a:rPr>
              <a:t>•  术语与指标体系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E965D0-BE0F-4BE7-B4E4-DC494CC7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354"/>
                </a:solidFill>
              </a:defRPr>
            </a:pPr>
            <a:r>
              <a:rPr sz="1050" b="0">
                <a:solidFill>
                  <a:srgbClr val="183354"/>
                </a:solidFill>
              </a:rPr>
              <a:t>•  试验方法与判据库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2D8AE2-659B-49E5-8656-523EB8BA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6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354"/>
                </a:solidFill>
              </a:defRPr>
            </a:pPr>
            <a:r>
              <a:rPr sz="1050" b="0">
                <a:solidFill>
                  <a:srgbClr val="183354"/>
                </a:solidFill>
              </a:rPr>
              <a:t>•  标准化工作指南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F7A9DC-E64E-4B0D-BE5F-E1D1E7B2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1718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5312F"/>
                </a:solidFill>
              </a:defRPr>
            </a:pPr>
            <a:r>
              <a:rPr sz="1800" b="1">
                <a:solidFill>
                  <a:srgbClr val="D5312F"/>
                </a:solidFill>
              </a:rPr>
              <a:t>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8521A2-404D-4963-9C23-6C3BA9F6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5312F"/>
                </a:solidFill>
              </a:defRPr>
            </a:pPr>
            <a:r>
              <a:rPr sz="1200" b="1">
                <a:solidFill>
                  <a:srgbClr val="D5312F"/>
                </a:solidFill>
              </a:rPr>
              <a:t>资源与数据支撑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D2E6C4-6E8B-4595-A3D0-21601C8C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147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354"/>
                </a:solidFill>
              </a:defRPr>
            </a:pPr>
            <a:r>
              <a:rPr sz="1050" b="0">
                <a:solidFill>
                  <a:srgbClr val="183354"/>
                </a:solidFill>
              </a:rPr>
              <a:t>•  标准验证数据库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D8C5BE-4932-4D01-8991-9AAE7880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623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354"/>
                </a:solidFill>
              </a:defRPr>
            </a:pPr>
            <a:r>
              <a:rPr sz="1050" b="0">
                <a:solidFill>
                  <a:srgbClr val="183354"/>
                </a:solidFill>
              </a:rPr>
              <a:t>•  数字孪生模型库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283104-5FB7-4C20-ADBB-76C97220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100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354"/>
                </a:solidFill>
              </a:defRPr>
            </a:pPr>
            <a:r>
              <a:rPr sz="1050" b="0">
                <a:solidFill>
                  <a:srgbClr val="183354"/>
                </a:solidFill>
              </a:rPr>
              <a:t>•  智能验证算法库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D3893C-456B-4367-AE76-12613C39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576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354"/>
                </a:solidFill>
              </a:defRPr>
            </a:pPr>
            <a:r>
              <a:rPr sz="1050" b="0">
                <a:solidFill>
                  <a:srgbClr val="183354"/>
                </a:solidFill>
              </a:rPr>
              <a:t>•  典型场景与工况库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CEE39C-C847-4E16-B280-932F99C1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514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5312F"/>
                </a:solidFill>
              </a:defRPr>
            </a:pPr>
            <a:r>
              <a:rPr sz="1800" b="1">
                <a:solidFill>
                  <a:srgbClr val="D5312F"/>
                </a:solidFill>
              </a:rPr>
              <a:t>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E8305D-44EE-47AC-B3C4-50667CDE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5312F"/>
                </a:solidFill>
              </a:defRPr>
            </a:pPr>
            <a:r>
              <a:rPr sz="1200" b="1">
                <a:solidFill>
                  <a:srgbClr val="D5312F"/>
                </a:solidFill>
              </a:rPr>
              <a:t>平台能力支撑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599329-7136-4B89-A704-06331A5A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354"/>
                </a:solidFill>
              </a:defRPr>
            </a:pPr>
            <a:r>
              <a:rPr sz="1050" b="0">
                <a:solidFill>
                  <a:srgbClr val="183354"/>
                </a:solidFill>
              </a:rPr>
              <a:t>•  中试验证管理平台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573888-07BE-4775-93E8-1E16FC7F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354"/>
                </a:solidFill>
              </a:defRPr>
            </a:pPr>
            <a:r>
              <a:rPr sz="1050" b="0">
                <a:solidFill>
                  <a:srgbClr val="183354"/>
                </a:solidFill>
              </a:rPr>
              <a:t>•  任务调度与资源管理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7A3332-2CB8-4011-BF0A-A9DFB4F2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530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354"/>
                </a:solidFill>
              </a:defRPr>
            </a:pPr>
            <a:r>
              <a:rPr sz="1050" b="0">
                <a:solidFill>
                  <a:srgbClr val="183354"/>
                </a:solidFill>
              </a:rPr>
              <a:t>•  数据管理与安全保障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B0C148-2F00-48F5-84CE-53883C09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00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354"/>
                </a:solidFill>
              </a:defRPr>
            </a:pPr>
            <a:r>
              <a:rPr sz="1050" b="0">
                <a:solidFill>
                  <a:srgbClr val="183354"/>
                </a:solidFill>
              </a:rPr>
              <a:t>•  过程追溯与知识沉淀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543E05-98CB-4B70-B6C1-671A60CB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53150"/>
            <a:ext cx="1981200" cy="1095375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AAA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005C99-133B-4904-B816-063549EA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53150"/>
            <a:ext cx="1981200" cy="2762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6F3"/>
          </a:solidFill>
          <a:ln xmlns:a="http://schemas.openxmlformats.org/drawingml/2006/main" w="9525">
            <a:solidFill>
              <a:srgbClr val="D9AAA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9D221C"/>
                </a:solidFill>
              </a:defRPr>
            </a:pPr>
            <a:r>
              <a:rPr sz="1275" b="1">
                <a:solidFill>
                  <a:srgbClr val="9D221C"/>
                </a:solidFill>
              </a:rPr>
              <a:t>输入要素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1C45C8-22D3-4B68-B0C8-96501A98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666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354"/>
                </a:solidFill>
              </a:defRPr>
            </a:pPr>
            <a:r>
              <a:rPr sz="1050" b="1">
                <a:solidFill>
                  <a:srgbClr val="183354"/>
                </a:solidFill>
              </a:rPr>
              <a:t>标准条款 / 验证需求</a:t>
            </a:r>
          </a:p>
          <a:p xmlns:a="http://schemas.openxmlformats.org/drawingml/2006/main">
            <a:pPr algn="l">
              <a:defRPr sz="1050" b="1">
                <a:solidFill>
                  <a:srgbClr val="183354"/>
                </a:solidFill>
              </a:defRPr>
            </a:pPr>
            <a:r>
              <a:rPr sz="1050" b="1">
                <a:solidFill>
                  <a:srgbClr val="183354"/>
                </a:solidFill>
              </a:rPr>
              <a:t>验证对象 / 场景工况</a:t>
            </a:r>
          </a:p>
          <a:p xmlns:a="http://schemas.openxmlformats.org/drawingml/2006/main">
            <a:pPr algn="l">
              <a:defRPr sz="1050" b="1">
                <a:solidFill>
                  <a:srgbClr val="183354"/>
                </a:solidFill>
              </a:defRPr>
            </a:pPr>
            <a:r>
              <a:rPr sz="1050" b="1">
                <a:solidFill>
                  <a:srgbClr val="183354"/>
                </a:solidFill>
              </a:rPr>
              <a:t>资源数据 / 约束条件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D1B065-29E5-4432-8896-1EF9D86F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314450"/>
            <a:ext cx="9639300" cy="6096000"/>
          </a:xfrm>
          <a:prstGeom xmlns:a="http://schemas.openxmlformats.org/drawingml/2006/main" prst="roundRect">
            <a:avLst>
              <a:gd name="adj" fmla="val 3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3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315FDA-F2D7-4CFB-88A0-0A56267A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314450"/>
            <a:ext cx="31242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7386F"/>
          </a:solidFill>
          <a:ln xmlns:a="http://schemas.openxmlformats.org/drawingml/2006/main" w="9525">
            <a:solidFill>
              <a:srgbClr val="0738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核心技术路线（主流程）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D3A2B8-2233-4C61-A09A-95D6DE9B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866900"/>
            <a:ext cx="1714500" cy="3429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1F6FB"/>
          </a:solidFill>
          <a:ln xmlns:a="http://schemas.openxmlformats.org/drawingml/2006/main" w="9525">
            <a:solidFill>
              <a:srgbClr val="0B4D9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386F"/>
                </a:solidFill>
              </a:defRPr>
            </a:pPr>
            <a:r>
              <a:rPr sz="1275" b="1">
                <a:solidFill>
                  <a:srgbClr val="07386F"/>
                </a:solidFill>
              </a:rPr>
              <a:t>1  标准解析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326E33-B7A1-4F86-A3C9-CE1739F1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324100"/>
            <a:ext cx="1628775" cy="1533525"/>
          </a:xfrm>
          <a:prstGeom xmlns:a="http://schemas.openxmlformats.org/drawingml/2006/main" prst="roundRect">
            <a:avLst>
              <a:gd name="adj" fmla="val 1242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AFCB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E0A0BF-116B-4282-9EE5-95AF2166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4479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83354"/>
                </a:solidFill>
              </a:defRPr>
            </a:pPr>
            <a:r>
              <a:rPr sz="863" b="0">
                <a:solidFill>
                  <a:srgbClr val="183354"/>
                </a:solidFill>
              </a:rPr>
              <a:t>•  条款结构化解析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9B29D8-CFBE-4D9D-A8A4-38D39BCB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6955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83354"/>
                </a:solidFill>
              </a:defRPr>
            </a:pPr>
            <a:r>
              <a:rPr sz="863" b="0">
                <a:solidFill>
                  <a:srgbClr val="183354"/>
                </a:solidFill>
              </a:rPr>
              <a:t>•  技术要求提取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5ECFC4-0874-43B6-9179-609ACE49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9432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83354"/>
                </a:solidFill>
              </a:defRPr>
            </a:pPr>
            <a:r>
              <a:rPr sz="863" b="0">
                <a:solidFill>
                  <a:srgbClr val="183354"/>
                </a:solidFill>
              </a:rPr>
              <a:t>•  验证对象识别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48C18C-BA06-4330-BBE1-7D2D89A1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1908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83354"/>
                </a:solidFill>
              </a:defRPr>
            </a:pPr>
            <a:r>
              <a:rPr sz="863" b="0">
                <a:solidFill>
                  <a:srgbClr val="183354"/>
                </a:solidFill>
              </a:rPr>
              <a:t>•  指标与判据定义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6662AF5-9F8E-4ED8-B093-A583AC07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866900"/>
            <a:ext cx="1714500" cy="3429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1F6FB"/>
          </a:solidFill>
          <a:ln xmlns:a="http://schemas.openxmlformats.org/drawingml/2006/main" w="9525">
            <a:solidFill>
              <a:srgbClr val="0B4D9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386F"/>
                </a:solidFill>
              </a:defRPr>
            </a:pPr>
            <a:r>
              <a:rPr sz="1275" b="1">
                <a:solidFill>
                  <a:srgbClr val="07386F"/>
                </a:solidFill>
              </a:rPr>
              <a:t>2  虚实建模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E2F4BD-4D73-422A-9C48-B1C85DFD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24100"/>
            <a:ext cx="1628775" cy="1533525"/>
          </a:xfrm>
          <a:prstGeom xmlns:a="http://schemas.openxmlformats.org/drawingml/2006/main" prst="roundRect">
            <a:avLst>
              <a:gd name="adj" fmla="val 1242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AFCB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7E0B1D-1386-4FA3-A2E8-4B21C449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479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83354"/>
                </a:solidFill>
              </a:defRPr>
            </a:pPr>
            <a:r>
              <a:rPr sz="863" b="0">
                <a:solidFill>
                  <a:srgbClr val="183354"/>
                </a:solidFill>
              </a:rPr>
              <a:t>•  对象数字模型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1A6BCC7-EF9E-40DB-92EE-2D74CD80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955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83354"/>
                </a:solidFill>
              </a:defRPr>
            </a:pPr>
            <a:r>
              <a:rPr sz="863" b="0">
                <a:solidFill>
                  <a:srgbClr val="183354"/>
                </a:solidFill>
              </a:rPr>
              <a:t>•  环境与场景模型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B2211E-768A-4860-AE67-C37F1E7A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432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83354"/>
                </a:solidFill>
              </a:defRPr>
            </a:pPr>
            <a:r>
              <a:rPr sz="863" b="0">
                <a:solidFill>
                  <a:srgbClr val="183354"/>
                </a:solidFill>
              </a:rPr>
              <a:t>•  传感器与设备模型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040A1DB-83FA-4A6D-B838-8107517F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908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83354"/>
                </a:solidFill>
              </a:defRPr>
            </a:pPr>
            <a:r>
              <a:rPr sz="863" b="0">
                <a:solidFill>
                  <a:srgbClr val="183354"/>
                </a:solidFill>
              </a:rPr>
              <a:t>•  行为与规则模型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DCCA067-140C-43BD-A2F0-1D0C7DC4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385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83354"/>
                </a:solidFill>
              </a:defRPr>
            </a:pPr>
            <a:r>
              <a:rPr sz="863" b="0">
                <a:solidFill>
                  <a:srgbClr val="183354"/>
                </a:solidFill>
              </a:rPr>
              <a:t>•  虚实映射关系建立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8FEAB4A-C4F6-4408-B431-BB1B541A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866900"/>
            <a:ext cx="1714500" cy="3429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1F6FB"/>
          </a:solidFill>
          <a:ln xmlns:a="http://schemas.openxmlformats.org/drawingml/2006/main" w="9525">
            <a:solidFill>
              <a:srgbClr val="0B4D9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386F"/>
                </a:solidFill>
              </a:defRPr>
            </a:pPr>
            <a:r>
              <a:rPr sz="1275" b="1">
                <a:solidFill>
                  <a:srgbClr val="07386F"/>
                </a:solidFill>
              </a:rPr>
              <a:t>3  协同验证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508D0E3-CFFF-4939-8FF8-8EA6A5BD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324100"/>
            <a:ext cx="1628775" cy="1533525"/>
          </a:xfrm>
          <a:prstGeom xmlns:a="http://schemas.openxmlformats.org/drawingml/2006/main" prst="roundRect">
            <a:avLst>
              <a:gd name="adj" fmla="val 1242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AFCB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20C95F3-9B01-403E-9652-95BFAE8F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4479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83354"/>
                </a:solidFill>
              </a:defRPr>
            </a:pPr>
            <a:r>
              <a:rPr sz="863" b="0">
                <a:solidFill>
                  <a:srgbClr val="183354"/>
                </a:solidFill>
              </a:rPr>
              <a:t>•  虚拟仿真验证（软件）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8B6AC1A-6EFE-4518-921A-B21A94BC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6955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83354"/>
                </a:solidFill>
              </a:defRPr>
            </a:pPr>
            <a:r>
              <a:rPr sz="863" b="0">
                <a:solidFill>
                  <a:srgbClr val="183354"/>
                </a:solidFill>
              </a:rPr>
              <a:t>•  半实物验证（HIL/SIL）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3D642F0-F8BC-478B-92F3-FC72FF78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9432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83354"/>
                </a:solidFill>
              </a:defRPr>
            </a:pPr>
            <a:r>
              <a:rPr sz="863" b="0">
                <a:solidFill>
                  <a:srgbClr val="183354"/>
                </a:solidFill>
              </a:rPr>
              <a:t>•  实体场景验证（现场）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70D5BF6-3A07-487F-87AE-7CFF8D35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1908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83354"/>
                </a:solidFill>
              </a:defRPr>
            </a:pPr>
            <a:r>
              <a:rPr sz="863" b="0">
                <a:solidFill>
                  <a:srgbClr val="183354"/>
                </a:solidFill>
              </a:rPr>
              <a:t>•  虚实联合验证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DD38EBC-F180-42D9-868A-1B3A9873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4385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83354"/>
                </a:solidFill>
              </a:defRPr>
            </a:pPr>
            <a:r>
              <a:rPr sz="863" b="0">
                <a:solidFill>
                  <a:srgbClr val="183354"/>
                </a:solidFill>
              </a:rPr>
              <a:t>•  多工况多场景验证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8850C60-8F91-425C-B705-1817207B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66900"/>
            <a:ext cx="1714500" cy="3429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1F6FB"/>
          </a:solidFill>
          <a:ln xmlns:a="http://schemas.openxmlformats.org/drawingml/2006/main" w="9525">
            <a:solidFill>
              <a:srgbClr val="0B4D9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386F"/>
                </a:solidFill>
              </a:defRPr>
            </a:pPr>
            <a:r>
              <a:rPr sz="1275" b="1">
                <a:solidFill>
                  <a:srgbClr val="07386F"/>
                </a:solidFill>
              </a:rPr>
              <a:t>4  量化评价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0547B57-039E-4AC1-8012-C03EC106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24100"/>
            <a:ext cx="1628775" cy="1533525"/>
          </a:xfrm>
          <a:prstGeom xmlns:a="http://schemas.openxmlformats.org/drawingml/2006/main" prst="roundRect">
            <a:avLst>
              <a:gd name="adj" fmla="val 1242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AFCBE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3ED49C8-CC12-44E5-900A-58A9D802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479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83354"/>
                </a:solidFill>
              </a:defRPr>
            </a:pPr>
            <a:r>
              <a:rPr sz="863" b="0">
                <a:solidFill>
                  <a:srgbClr val="183354"/>
                </a:solidFill>
              </a:rPr>
              <a:t>•  数据一致性校核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3A9C93C-00AE-47B0-92B8-417CAA98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955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83354"/>
                </a:solidFill>
              </a:defRPr>
            </a:pPr>
            <a:r>
              <a:rPr sz="863" b="0">
                <a:solidFill>
                  <a:srgbClr val="183354"/>
                </a:solidFill>
              </a:rPr>
              <a:t>•  状态与行为映射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5765B39-EA24-49DD-915B-AFDD5CAA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432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83354"/>
                </a:solidFill>
              </a:defRPr>
            </a:pPr>
            <a:r>
              <a:rPr sz="863" b="0">
                <a:solidFill>
                  <a:srgbClr val="183354"/>
                </a:solidFill>
              </a:rPr>
              <a:t>•  可信度评价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A20D182-1C47-445E-AA89-AECE917B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908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83354"/>
                </a:solidFill>
              </a:defRPr>
            </a:pPr>
            <a:r>
              <a:rPr sz="863" b="0">
                <a:solidFill>
                  <a:srgbClr val="183354"/>
                </a:solidFill>
              </a:rPr>
              <a:t>•  适用性与有效性分析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F0A5C26-78C2-4188-B10A-732C483B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385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83354"/>
                </a:solidFill>
              </a:defRPr>
            </a:pPr>
            <a:r>
              <a:rPr sz="863" b="0">
                <a:solidFill>
                  <a:srgbClr val="183354"/>
                </a:solidFill>
              </a:rPr>
              <a:t>•  验证结果判定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FC86C35-E35D-4766-B72E-57118472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1866900"/>
            <a:ext cx="1714500" cy="3429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1F6FB"/>
          </a:solidFill>
          <a:ln xmlns:a="http://schemas.openxmlformats.org/drawingml/2006/main" w="9525">
            <a:solidFill>
              <a:srgbClr val="0B4D9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386F"/>
                </a:solidFill>
              </a:defRPr>
            </a:pPr>
            <a:r>
              <a:rPr sz="1275" b="1">
                <a:solidFill>
                  <a:srgbClr val="07386F"/>
                </a:solidFill>
              </a:rPr>
              <a:t>5  反馈迭代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0B25077-280A-4C2B-A636-1ECD1321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324100"/>
            <a:ext cx="1628775" cy="1533525"/>
          </a:xfrm>
          <a:prstGeom xmlns:a="http://schemas.openxmlformats.org/drawingml/2006/main" prst="roundRect">
            <a:avLst>
              <a:gd name="adj" fmla="val 1242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AFCBE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E891742-4BAF-4678-AFAA-63E2BC2F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24479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83354"/>
                </a:solidFill>
              </a:defRPr>
            </a:pPr>
            <a:r>
              <a:rPr sz="863" b="0">
                <a:solidFill>
                  <a:srgbClr val="183354"/>
                </a:solidFill>
              </a:rPr>
              <a:t>•  问题与差异定位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65902F9-3BED-478C-A84F-A0745459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26955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83354"/>
                </a:solidFill>
              </a:defRPr>
            </a:pPr>
            <a:r>
              <a:rPr sz="863" b="0">
                <a:solidFill>
                  <a:srgbClr val="183354"/>
                </a:solidFill>
              </a:rPr>
              <a:t>•  标准条款优化建议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91DC144-7C4D-407F-875A-0EDC2871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29432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83354"/>
                </a:solidFill>
              </a:defRPr>
            </a:pPr>
            <a:r>
              <a:rPr sz="863" b="0">
                <a:solidFill>
                  <a:srgbClr val="183354"/>
                </a:solidFill>
              </a:rPr>
              <a:t>•  再验证与确认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B281E8D-A906-4C59-9565-EFF652BE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31908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83354"/>
                </a:solidFill>
              </a:defRPr>
            </a:pPr>
            <a:r>
              <a:rPr sz="863" b="0">
                <a:solidFill>
                  <a:srgbClr val="183354"/>
                </a:solidFill>
              </a:rPr>
              <a:t>•  标准修订与完善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4E6A9EE-FC09-4B4F-BF20-0AADF541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34385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83354"/>
                </a:solidFill>
              </a:defRPr>
            </a:pPr>
            <a:r>
              <a:rPr sz="863" b="0">
                <a:solidFill>
                  <a:srgbClr val="183354"/>
                </a:solidFill>
              </a:rPr>
              <a:t>•  迭代闭环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90367ED-E7C7-48D0-9816-D5BE4B9A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171950"/>
            <a:ext cx="123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D91"/>
          </a:solidFill>
          <a:ln xmlns:a="http://schemas.openxmlformats.org/drawingml/2006/main" w="0">
            <a:solidFill>
              <a:srgbClr val="0B4D91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62F25DD-5458-42EB-B7B7-F95621AD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171950"/>
            <a:ext cx="123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D91"/>
          </a:solidFill>
          <a:ln xmlns:a="http://schemas.openxmlformats.org/drawingml/2006/main" w="0">
            <a:solidFill>
              <a:srgbClr val="0B4D9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DAE0133-0DEC-4F7F-BBB8-3B615FA5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71950"/>
            <a:ext cx="123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D91"/>
          </a:solidFill>
          <a:ln xmlns:a="http://schemas.openxmlformats.org/drawingml/2006/main" w="0">
            <a:solidFill>
              <a:srgbClr val="0B4D91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0F14125-1551-477B-84E7-B1EEB61B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71950"/>
            <a:ext cx="123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D91"/>
          </a:solidFill>
          <a:ln xmlns:a="http://schemas.openxmlformats.org/drawingml/2006/main" w="0">
            <a:solidFill>
              <a:srgbClr val="0B4D91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5E07FBF-9480-4FFB-B384-AE6F660D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71950"/>
            <a:ext cx="123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D91"/>
          </a:solidFill>
          <a:ln xmlns:a="http://schemas.openxmlformats.org/drawingml/2006/main" w="0">
            <a:solidFill>
              <a:srgbClr val="0B4D91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118BFE3-918D-45FD-836B-53E25009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171950"/>
            <a:ext cx="123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D91"/>
          </a:solidFill>
          <a:ln xmlns:a="http://schemas.openxmlformats.org/drawingml/2006/main" w="0">
            <a:solidFill>
              <a:srgbClr val="0B4D91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AAF139A-412C-4A21-8D20-5CAAA14D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171950"/>
            <a:ext cx="123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D91"/>
          </a:solidFill>
          <a:ln xmlns:a="http://schemas.openxmlformats.org/drawingml/2006/main" w="0">
            <a:solidFill>
              <a:srgbClr val="0B4D91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71DB90D-2446-4935-A979-89330EFB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171950"/>
            <a:ext cx="123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D91"/>
          </a:solidFill>
          <a:ln xmlns:a="http://schemas.openxmlformats.org/drawingml/2006/main" w="0">
            <a:solidFill>
              <a:srgbClr val="0B4D91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5C34A22-0210-4EDC-AD89-ADBDF0F5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71950"/>
            <a:ext cx="123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D91"/>
          </a:solidFill>
          <a:ln xmlns:a="http://schemas.openxmlformats.org/drawingml/2006/main" w="0">
            <a:solidFill>
              <a:srgbClr val="0B4D91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EF941C4-3EC2-4E5F-90C0-E0EFC5C4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71950"/>
            <a:ext cx="123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D91"/>
          </a:solidFill>
          <a:ln xmlns:a="http://schemas.openxmlformats.org/drawingml/2006/main" w="0">
            <a:solidFill>
              <a:srgbClr val="0B4D91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FBF0D40-DB56-4D46-BB15-19E60F1B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171950"/>
            <a:ext cx="123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D91"/>
          </a:solidFill>
          <a:ln xmlns:a="http://schemas.openxmlformats.org/drawingml/2006/main" w="0">
            <a:solidFill>
              <a:srgbClr val="0B4D91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E921ED0-71F6-4B64-8838-FB7D5CAB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71950"/>
            <a:ext cx="123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D91"/>
          </a:solidFill>
          <a:ln xmlns:a="http://schemas.openxmlformats.org/drawingml/2006/main" w="0">
            <a:solidFill>
              <a:srgbClr val="0B4D91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F5F41E7-FA68-4E62-8EBB-DFE605FE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71950"/>
            <a:ext cx="123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D91"/>
          </a:solidFill>
          <a:ln xmlns:a="http://schemas.openxmlformats.org/drawingml/2006/main" w="0">
            <a:solidFill>
              <a:srgbClr val="0B4D91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DCCFE9A-D1E0-4962-A710-CBD96243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71950"/>
            <a:ext cx="123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D91"/>
          </a:solidFill>
          <a:ln xmlns:a="http://schemas.openxmlformats.org/drawingml/2006/main" w="0">
            <a:solidFill>
              <a:srgbClr val="0B4D91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B9ABF4C-863A-4879-974B-171588E5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71950"/>
            <a:ext cx="123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D91"/>
          </a:solidFill>
          <a:ln xmlns:a="http://schemas.openxmlformats.org/drawingml/2006/main" w="0">
            <a:solidFill>
              <a:srgbClr val="0B4D91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C05510A-DABB-41E5-B267-F34FAFA9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171950"/>
            <a:ext cx="123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D91"/>
          </a:solidFill>
          <a:ln xmlns:a="http://schemas.openxmlformats.org/drawingml/2006/main" w="0">
            <a:solidFill>
              <a:srgbClr val="0B4D91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5B6D7C7-180C-4404-910A-73E0AEC8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71950"/>
            <a:ext cx="123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D91"/>
          </a:solidFill>
          <a:ln xmlns:a="http://schemas.openxmlformats.org/drawingml/2006/main" w="0">
            <a:solidFill>
              <a:srgbClr val="0B4D91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B853951-FB87-471A-80A8-C2316B56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171950"/>
            <a:ext cx="123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D91"/>
          </a:solidFill>
          <a:ln xmlns:a="http://schemas.openxmlformats.org/drawingml/2006/main" w="0">
            <a:solidFill>
              <a:srgbClr val="0B4D91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373B176-9307-47D2-9264-0E580C91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171950"/>
            <a:ext cx="123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D91"/>
          </a:solidFill>
          <a:ln xmlns:a="http://schemas.openxmlformats.org/drawingml/2006/main" w="0">
            <a:solidFill>
              <a:srgbClr val="0B4D91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E33FBD2-8870-424F-9CE0-37455625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123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D91"/>
          </a:solidFill>
          <a:ln xmlns:a="http://schemas.openxmlformats.org/drawingml/2006/main" w="0">
            <a:solidFill>
              <a:srgbClr val="0B4D91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37951A2-6DA9-412D-9076-AF41E575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71950"/>
            <a:ext cx="123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D91"/>
          </a:solidFill>
          <a:ln xmlns:a="http://schemas.openxmlformats.org/drawingml/2006/main" w="0">
            <a:solidFill>
              <a:srgbClr val="0B4D91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2E70D01-24E9-4DEA-9D55-6233F980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71950"/>
            <a:ext cx="123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D91"/>
          </a:solidFill>
          <a:ln xmlns:a="http://schemas.openxmlformats.org/drawingml/2006/main" w="0">
            <a:solidFill>
              <a:srgbClr val="0B4D91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9EE6168-A1FF-457E-985B-7F9BA8E2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171950"/>
            <a:ext cx="123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D91"/>
          </a:solidFill>
          <a:ln xmlns:a="http://schemas.openxmlformats.org/drawingml/2006/main" w="0">
            <a:solidFill>
              <a:srgbClr val="0B4D91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B307075-B021-439A-9C56-2278932C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171950"/>
            <a:ext cx="123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D91"/>
          </a:solidFill>
          <a:ln xmlns:a="http://schemas.openxmlformats.org/drawingml/2006/main" w="0">
            <a:solidFill>
              <a:srgbClr val="0B4D91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ED0270C-1C9A-4CDC-8377-ECFDDD8A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71950"/>
            <a:ext cx="123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D91"/>
          </a:solidFill>
          <a:ln xmlns:a="http://schemas.openxmlformats.org/drawingml/2006/main" w="0">
            <a:solidFill>
              <a:srgbClr val="0B4D91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9C58001-BA13-4E80-804D-5972DF5C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71950"/>
            <a:ext cx="123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D91"/>
          </a:solidFill>
          <a:ln xmlns:a="http://schemas.openxmlformats.org/drawingml/2006/main" w="0">
            <a:solidFill>
              <a:srgbClr val="0B4D91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138B477-BB3F-43F1-AEB2-12F3F7E5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171950"/>
            <a:ext cx="123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D91"/>
          </a:solidFill>
          <a:ln xmlns:a="http://schemas.openxmlformats.org/drawingml/2006/main" w="0">
            <a:solidFill>
              <a:srgbClr val="0B4D91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650F577-CCAE-421F-B21A-582D3FD5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171950"/>
            <a:ext cx="123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D91"/>
          </a:solidFill>
          <a:ln xmlns:a="http://schemas.openxmlformats.org/drawingml/2006/main" w="0">
            <a:solidFill>
              <a:srgbClr val="0B4D91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7FDED94-FB06-415B-9EE9-BE2FDE98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171950"/>
            <a:ext cx="123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D91"/>
          </a:solidFill>
          <a:ln xmlns:a="http://schemas.openxmlformats.org/drawingml/2006/main" w="0">
            <a:solidFill>
              <a:srgbClr val="0B4D91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9A8DA46-C5E5-4458-A72A-4AA12772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71950"/>
            <a:ext cx="123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D91"/>
          </a:solidFill>
          <a:ln xmlns:a="http://schemas.openxmlformats.org/drawingml/2006/main" w="0">
            <a:solidFill>
              <a:srgbClr val="0B4D91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E7496FB-245E-48FD-BCBB-E9B727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171950"/>
            <a:ext cx="123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D91"/>
          </a:solidFill>
          <a:ln xmlns:a="http://schemas.openxmlformats.org/drawingml/2006/main" w="0">
            <a:solidFill>
              <a:srgbClr val="0B4D91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84FF5A6-30C0-4965-B788-F18F4BE2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171950"/>
            <a:ext cx="123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D91"/>
          </a:solidFill>
          <a:ln xmlns:a="http://schemas.openxmlformats.org/drawingml/2006/main" w="0">
            <a:solidFill>
              <a:srgbClr val="0B4D91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19333D4-8F9F-4C1B-ADE5-C4D78D69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171950"/>
            <a:ext cx="123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D91"/>
          </a:solidFill>
          <a:ln xmlns:a="http://schemas.openxmlformats.org/drawingml/2006/main" w="0">
            <a:solidFill>
              <a:srgbClr val="0B4D91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00C4FCC-E2ED-4F0D-B67C-553CCA7E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171950"/>
            <a:ext cx="123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D91"/>
          </a:solidFill>
          <a:ln xmlns:a="http://schemas.openxmlformats.org/drawingml/2006/main" w="0">
            <a:solidFill>
              <a:srgbClr val="0B4D91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59D16CD-077E-4723-B570-25EE73C2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71950"/>
            <a:ext cx="123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D91"/>
          </a:solidFill>
          <a:ln xmlns:a="http://schemas.openxmlformats.org/drawingml/2006/main" w="0">
            <a:solidFill>
              <a:srgbClr val="0B4D91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3ED0F86-2A0F-4526-8059-F19A4A6E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71950"/>
            <a:ext cx="123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D91"/>
          </a:solidFill>
          <a:ln xmlns:a="http://schemas.openxmlformats.org/drawingml/2006/main" w="0">
            <a:solidFill>
              <a:srgbClr val="0B4D91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AA5B005-98EA-41DC-9D08-8B1734BA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00475"/>
            <a:ext cx="190500" cy="39052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0B4D91"/>
          </a:solidFill>
          <a:ln xmlns:a="http://schemas.openxmlformats.org/drawingml/2006/main" w="9525">
            <a:solidFill>
              <a:srgbClr val="0B4D91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24F365A-33D6-4214-AD13-A5F54370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800475"/>
            <a:ext cx="190500" cy="39052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0B4D91"/>
          </a:solidFill>
          <a:ln xmlns:a="http://schemas.openxmlformats.org/drawingml/2006/main" w="9525">
            <a:solidFill>
              <a:srgbClr val="0B4D91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97993CF-565D-4DB5-AA4D-04B53137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38600"/>
            <a:ext cx="3209925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4D91"/>
          </a:solidFill>
          <a:ln xmlns:a="http://schemas.openxmlformats.org/drawingml/2006/main" w="9525">
            <a:solidFill>
              <a:srgbClr val="0B4D9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验证反馈驱动模型修正与标准优化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4B74E9F-FF1D-40AE-A21C-732FE9C2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339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386F"/>
                </a:solidFill>
              </a:defRPr>
            </a:pPr>
            <a:r>
              <a:rPr sz="1350" b="1">
                <a:solidFill>
                  <a:srgbClr val="07386F"/>
                </a:solidFill>
              </a:rPr>
              <a:t>验证实施路径（两级联动）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AF805F2-8858-413C-9F5F-3B5AFFBC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810125"/>
            <a:ext cx="4286250" cy="11239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AFCBE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C58E407-03BE-4935-8A48-F940C5FE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867275"/>
            <a:ext cx="35814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B4D91"/>
          </a:solidFill>
          <a:ln xmlns:a="http://schemas.openxmlformats.org/drawingml/2006/main" w="9525">
            <a:solidFill>
              <a:srgbClr val="0B4D9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一级：虚拟仿真预审（广覆盖、快迭代）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69675BF-6E09-438F-B355-3F527CEC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2101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354"/>
                </a:solidFill>
              </a:defRPr>
            </a:pPr>
            <a:r>
              <a:rPr sz="1050" b="0">
                <a:solidFill>
                  <a:srgbClr val="183354"/>
                </a:solidFill>
              </a:rPr>
              <a:t>•  标准条款快速映射与仿真验证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E9A7766-C581-40E4-A821-60FDBE75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4387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354"/>
                </a:solidFill>
              </a:defRPr>
            </a:pPr>
            <a:r>
              <a:rPr sz="1050" b="0">
                <a:solidFill>
                  <a:srgbClr val="183354"/>
                </a:solidFill>
              </a:rPr>
              <a:t>•  关键指标筛选与敏感性分析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F44CBB9-417A-42EA-B497-F32999E1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6673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354"/>
                </a:solidFill>
              </a:defRPr>
            </a:pPr>
            <a:r>
              <a:rPr sz="1050" b="0">
                <a:solidFill>
                  <a:srgbClr val="183354"/>
                </a:solidFill>
              </a:rPr>
              <a:t>•  问题识别与优化方向输出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86F1AA0-B745-4E57-BBE0-6B7273AB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810125"/>
            <a:ext cx="4286250" cy="11239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AFCBE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3D4EB7B-2FCC-40AF-AD39-969F8B41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67275"/>
            <a:ext cx="371475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2B72AE"/>
          </a:solidFill>
          <a:ln xmlns:a="http://schemas.openxmlformats.org/drawingml/2006/main" w="9525">
            <a:solidFill>
              <a:srgbClr val="2B72A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二级：半实物精测（高精度、强可靠）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61450F0-07C9-427D-8845-0206F615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2101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354"/>
                </a:solidFill>
              </a:defRPr>
            </a:pPr>
            <a:r>
              <a:rPr sz="1050" b="0">
                <a:solidFill>
                  <a:srgbClr val="183354"/>
                </a:solidFill>
              </a:rPr>
              <a:t>•  HIL/SIL 半实物验证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F3E878B-D381-4F1C-8CD8-357147C4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4387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354"/>
                </a:solidFill>
              </a:defRPr>
            </a:pPr>
            <a:r>
              <a:rPr sz="1050" b="0">
                <a:solidFill>
                  <a:srgbClr val="183354"/>
                </a:solidFill>
              </a:rPr>
              <a:t>•  关键工况高精度测量与校核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C9987FE-55CB-459C-8500-F7AD5A36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6673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354"/>
                </a:solidFill>
              </a:defRPr>
            </a:pPr>
            <a:r>
              <a:rPr sz="1050" b="0">
                <a:solidFill>
                  <a:srgbClr val="183354"/>
                </a:solidFill>
              </a:rPr>
              <a:t>•  验证结论确认与报告输出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2FEB635-4A66-4CEA-8B85-F7B78146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6115050"/>
            <a:ext cx="252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386F"/>
                </a:solidFill>
              </a:defRPr>
            </a:pPr>
            <a:r>
              <a:rPr sz="1350" b="1">
                <a:solidFill>
                  <a:srgbClr val="07386F"/>
                </a:solidFill>
              </a:rPr>
              <a:t>验证数据流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E45DC29-59A0-49F2-8299-D7F63BD3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486525"/>
            <a:ext cx="2057400" cy="733425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7FA7D0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B67A56A-6DB3-47BE-AE92-BDD68E49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65817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4D91"/>
                </a:solidFill>
              </a:defRPr>
            </a:pPr>
            <a:r>
              <a:rPr sz="1650" b="1">
                <a:solidFill>
                  <a:srgbClr val="0B4D91"/>
                </a:solidFill>
              </a:rPr>
              <a:t>♙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D80B1B9-4B65-4A56-BD36-0576A124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65817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4D91"/>
                </a:solidFill>
              </a:defRPr>
            </a:pPr>
            <a:r>
              <a:rPr sz="1200" b="1">
                <a:solidFill>
                  <a:srgbClr val="0B4D91"/>
                </a:solidFill>
              </a:rPr>
              <a:t>数据采集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76CC737-4D85-429F-B12F-7A9D2BF3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68675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83354"/>
                </a:solidFill>
              </a:defRPr>
            </a:pPr>
            <a:r>
              <a:rPr sz="938" b="0">
                <a:solidFill>
                  <a:srgbClr val="183354"/>
                </a:solidFill>
              </a:rPr>
              <a:t>•  仿真数据 / 实测数据</a:t>
            </a:r>
          </a:p>
          <a:p xmlns:a="http://schemas.openxmlformats.org/drawingml/2006/main">
            <a:pPr algn="l">
              <a:defRPr sz="938" b="0">
                <a:solidFill>
                  <a:srgbClr val="183354"/>
                </a:solidFill>
              </a:defRPr>
            </a:pPr>
            <a:r>
              <a:rPr sz="938" b="0">
                <a:solidFill>
                  <a:srgbClr val="183354"/>
                </a:solidFill>
              </a:rPr>
              <a:t>•  环境数据 / 设备数据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950F864-80CD-49E3-A4A3-D14CBE07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6486525"/>
            <a:ext cx="2057400" cy="733425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7FA7D0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5CE90DA-EFF5-4E5E-A3CE-FD21284B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5817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4D91"/>
                </a:solidFill>
              </a:defRPr>
            </a:pPr>
            <a:r>
              <a:rPr sz="1650" b="1">
                <a:solidFill>
                  <a:srgbClr val="0B4D91"/>
                </a:solidFill>
              </a:rPr>
              <a:t>▧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30CFBD8-327C-4AA8-A495-8986C6D9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65817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4D91"/>
                </a:solidFill>
              </a:defRPr>
            </a:pPr>
            <a:r>
              <a:rPr sz="1200" b="1">
                <a:solidFill>
                  <a:srgbClr val="0B4D91"/>
                </a:solidFill>
              </a:rPr>
              <a:t>数据处理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CC3E38A-3337-48EE-A629-8A8AA341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68675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83354"/>
                </a:solidFill>
              </a:defRPr>
            </a:pPr>
            <a:r>
              <a:rPr sz="938" b="0">
                <a:solidFill>
                  <a:srgbClr val="183354"/>
                </a:solidFill>
              </a:rPr>
              <a:t>•  清洗 / 融合 / 转换</a:t>
            </a:r>
          </a:p>
          <a:p xmlns:a="http://schemas.openxmlformats.org/drawingml/2006/main">
            <a:pPr algn="l">
              <a:defRPr sz="938" b="0">
                <a:solidFill>
                  <a:srgbClr val="183354"/>
                </a:solidFill>
              </a:defRPr>
            </a:pPr>
            <a:r>
              <a:rPr sz="938" b="0">
                <a:solidFill>
                  <a:srgbClr val="183354"/>
                </a:solidFill>
              </a:rPr>
              <a:t>•  特征提取 / 建模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910C485-1356-4D7E-98F5-3B70186A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486525"/>
            <a:ext cx="2057400" cy="733425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7FA7D0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37828D4-CCBE-4CBE-A94D-A0215B12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5817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4D91"/>
                </a:solidFill>
              </a:defRPr>
            </a:pPr>
            <a:r>
              <a:rPr sz="1650" b="1">
                <a:solidFill>
                  <a:srgbClr val="0B4D91"/>
                </a:solidFill>
              </a:rPr>
              <a:t>▣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622F7D1-8EBD-49E6-BBD0-A58B61F4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5817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4D91"/>
                </a:solidFill>
              </a:defRPr>
            </a:pPr>
            <a:r>
              <a:rPr sz="1200" b="1">
                <a:solidFill>
                  <a:srgbClr val="0B4D91"/>
                </a:solidFill>
              </a:rPr>
              <a:t>数据校核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18945C3-82DB-4D67-BE3E-7CECCD63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8675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83354"/>
                </a:solidFill>
              </a:defRPr>
            </a:pPr>
            <a:r>
              <a:rPr sz="938" b="0">
                <a:solidFill>
                  <a:srgbClr val="183354"/>
                </a:solidFill>
              </a:rPr>
              <a:t>•  一致性校核 / 映射关系</a:t>
            </a:r>
          </a:p>
          <a:p xmlns:a="http://schemas.openxmlformats.org/drawingml/2006/main">
            <a:pPr algn="l">
              <a:defRPr sz="938" b="0">
                <a:solidFill>
                  <a:srgbClr val="183354"/>
                </a:solidFill>
              </a:defRPr>
            </a:pPr>
            <a:r>
              <a:rPr sz="938" b="0">
                <a:solidFill>
                  <a:srgbClr val="183354"/>
                </a:solidFill>
              </a:rPr>
              <a:t>•  误差分析 / 不确定度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924DEAD3-6376-4B6C-ACC6-C6AA15A5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486525"/>
            <a:ext cx="2057400" cy="733425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7FA7D0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CE992AC-D4FD-4F13-8304-66D58AA9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65817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4D91"/>
                </a:solidFill>
              </a:defRPr>
            </a:pPr>
            <a:r>
              <a:rPr sz="1650" b="1">
                <a:solidFill>
                  <a:srgbClr val="0B4D91"/>
                </a:solidFill>
              </a:rPr>
              <a:t>▱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4D07CF23-6C69-4134-A76A-F8D2CCFD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4D91"/>
                </a:solidFill>
              </a:defRPr>
            </a:pPr>
            <a:r>
              <a:rPr sz="1200" b="1">
                <a:solidFill>
                  <a:srgbClr val="0B4D91"/>
                </a:solidFill>
              </a:rPr>
              <a:t>数据存储与共享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10CE936-D5F1-4BEC-A60A-549AB330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8675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83354"/>
                </a:solidFill>
              </a:defRPr>
            </a:pPr>
            <a:r>
              <a:rPr sz="938" b="0">
                <a:solidFill>
                  <a:srgbClr val="183354"/>
                </a:solidFill>
              </a:rPr>
              <a:t>•  标准数据库入库</a:t>
            </a:r>
          </a:p>
          <a:p xmlns:a="http://schemas.openxmlformats.org/drawingml/2006/main">
            <a:pPr algn="l">
              <a:defRPr sz="938" b="0">
                <a:solidFill>
                  <a:srgbClr val="183354"/>
                </a:solidFill>
              </a:defRPr>
            </a:pPr>
            <a:r>
              <a:rPr sz="938" b="0">
                <a:solidFill>
                  <a:srgbClr val="183354"/>
                </a:solidFill>
              </a:rPr>
              <a:t>•  知识沉淀 / 可追溯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AB79780A-CA23-4BF2-9AC2-301EDC25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1314450"/>
            <a:ext cx="2333625" cy="6096000"/>
          </a:xfrm>
          <a:prstGeom xmlns:a="http://schemas.openxmlformats.org/drawingml/2006/main" prst="roundRect">
            <a:avLst>
              <a:gd name="adj" fmla="val 816"/>
            </a:avLst>
          </a:prstGeom>
          <a:solidFill xmlns:a="http://schemas.openxmlformats.org/drawingml/2006/main">
            <a:srgbClr val="F5FBF8"/>
          </a:solidFill>
          <a:ln xmlns:a="http://schemas.openxmlformats.org/drawingml/2006/main" w="9525">
            <a:solidFill>
              <a:srgbClr val="B7D8CB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385FA3C9-B723-4ABC-AA88-E074EED5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1314450"/>
            <a:ext cx="2333625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76B4E"/>
          </a:solidFill>
          <a:ln xmlns:a="http://schemas.openxmlformats.org/drawingml/2006/main" w="9525">
            <a:solidFill>
              <a:srgbClr val="176B4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应用层（输出与应用）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FAB0200-67F3-4F8C-BEE6-96804FC8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1828800"/>
            <a:ext cx="2000250" cy="304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9525">
            <a:solidFill>
              <a:srgbClr val="B7D8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B4E"/>
                </a:solidFill>
              </a:defRPr>
            </a:pPr>
            <a:r>
              <a:rPr sz="1275" b="1">
                <a:solidFill>
                  <a:srgbClr val="176B4E"/>
                </a:solidFill>
              </a:rPr>
              <a:t>四类标准应用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F64B9C8C-896C-4CF0-8C86-14362496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2133600"/>
            <a:ext cx="2000250" cy="8382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8CB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629A55CE-663C-4A3F-B374-78E355FC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23431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6B4E"/>
                </a:solidFill>
              </a:defRPr>
            </a:pPr>
            <a:r>
              <a:rPr sz="1725" b="1">
                <a:solidFill>
                  <a:srgbClr val="176B4E"/>
                </a:solidFill>
              </a:rPr>
              <a:t>⚙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08B9F3FE-A984-4E8C-B06D-B14E8CE1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22288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B4E"/>
                </a:solidFill>
              </a:defRPr>
            </a:pPr>
            <a:r>
              <a:rPr sz="1125" b="1">
                <a:solidFill>
                  <a:srgbClr val="176B4E"/>
                </a:solidFill>
              </a:rPr>
              <a:t>民用标准采用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02816CB2-2163-4B5F-AE77-0B378952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2495550"/>
            <a:ext cx="123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354"/>
                </a:solidFill>
              </a:defRPr>
            </a:pPr>
            <a:r>
              <a:rPr sz="1050" b="0">
                <a:solidFill>
                  <a:srgbClr val="183354"/>
                </a:solidFill>
              </a:rPr>
              <a:t>验证支撑</a:t>
            </a:r>
          </a:p>
          <a:p xmlns:a="http://schemas.openxmlformats.org/drawingml/2006/main">
            <a:pPr algn="l">
              <a:defRPr sz="1050" b="0">
                <a:solidFill>
                  <a:srgbClr val="183354"/>
                </a:solidFill>
              </a:defRPr>
            </a:pPr>
            <a:r>
              <a:rPr sz="1050" b="0">
                <a:solidFill>
                  <a:srgbClr val="183354"/>
                </a:solidFill>
              </a:rPr>
              <a:t>采用建议输出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3684C6D7-8630-49F6-B8D5-57A4DE5A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3009900"/>
            <a:ext cx="2000250" cy="8382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8CB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023EC9C7-AD02-4590-94CA-65FB6ED5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32194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6B4E"/>
                </a:solidFill>
              </a:defRPr>
            </a:pPr>
            <a:r>
              <a:rPr sz="1725" b="1">
                <a:solidFill>
                  <a:srgbClr val="176B4E"/>
                </a:solidFill>
              </a:rPr>
              <a:t>♧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83B0922D-FD0A-4642-A334-8EF4D899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31051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B4E"/>
                </a:solidFill>
              </a:defRPr>
            </a:pPr>
            <a:r>
              <a:rPr sz="1125" b="1">
                <a:solidFill>
                  <a:srgbClr val="176B4E"/>
                </a:solidFill>
              </a:rPr>
              <a:t>国外标准转化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133C11CE-E33F-4DC0-ABF1-D9925CFC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3371850"/>
            <a:ext cx="123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354"/>
                </a:solidFill>
              </a:defRPr>
            </a:pPr>
            <a:r>
              <a:rPr sz="1050" b="0">
                <a:solidFill>
                  <a:srgbClr val="183354"/>
                </a:solidFill>
              </a:rPr>
              <a:t>差异分析</a:t>
            </a:r>
          </a:p>
          <a:p xmlns:a="http://schemas.openxmlformats.org/drawingml/2006/main">
            <a:pPr algn="l">
              <a:defRPr sz="1050" b="0">
                <a:solidFill>
                  <a:srgbClr val="183354"/>
                </a:solidFill>
              </a:defRPr>
            </a:pPr>
            <a:r>
              <a:rPr sz="1050" b="0">
                <a:solidFill>
                  <a:srgbClr val="183354"/>
                </a:solidFill>
              </a:rPr>
              <a:t>转化方案输出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7DB50C3-64EC-4BE1-B96A-62B63E10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3886200"/>
            <a:ext cx="2000250" cy="8382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8CB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87AD53F4-1937-4B2D-AEF9-FC83F45C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40957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6B4E"/>
                </a:solidFill>
              </a:defRPr>
            </a:pPr>
            <a:r>
              <a:rPr sz="1725" b="1">
                <a:solidFill>
                  <a:srgbClr val="176B4E"/>
                </a:solidFill>
              </a:rPr>
              <a:t>▰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970E6BA8-8519-4BC2-81C4-465A9C3C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39814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B4E"/>
                </a:solidFill>
              </a:defRPr>
            </a:pPr>
            <a:r>
              <a:rPr sz="1125" b="1">
                <a:solidFill>
                  <a:srgbClr val="176B4E"/>
                </a:solidFill>
              </a:rPr>
              <a:t>存量标准整合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C86861D2-227A-4E00-A100-FF436524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4248150"/>
            <a:ext cx="123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354"/>
                </a:solidFill>
              </a:defRPr>
            </a:pPr>
            <a:r>
              <a:rPr sz="1050" b="0">
                <a:solidFill>
                  <a:srgbClr val="183354"/>
                </a:solidFill>
              </a:rPr>
              <a:t>冲突梳理</a:t>
            </a:r>
          </a:p>
          <a:p xmlns:a="http://schemas.openxmlformats.org/drawingml/2006/main">
            <a:pPr algn="l">
              <a:defRPr sz="1050" b="0">
                <a:solidFill>
                  <a:srgbClr val="183354"/>
                </a:solidFill>
              </a:defRPr>
            </a:pPr>
            <a:r>
              <a:rPr sz="1050" b="0">
                <a:solidFill>
                  <a:srgbClr val="183354"/>
                </a:solidFill>
              </a:rPr>
              <a:t>整合清单输出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21CD19B8-A7D4-4CFE-BFB5-74EF54B5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4762500"/>
            <a:ext cx="2000250" cy="8382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8CB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26BF620F-DB36-48D2-ADA7-838BB630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4972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6B4E"/>
                </a:solidFill>
              </a:defRPr>
            </a:pPr>
            <a:r>
              <a:rPr sz="1725" b="1">
                <a:solidFill>
                  <a:srgbClr val="176B4E"/>
                </a:solidFill>
              </a:rPr>
              <a:t>▣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AB7769EB-7983-4950-8AB9-8262AD53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48577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B4E"/>
                </a:solidFill>
              </a:defRPr>
            </a:pPr>
            <a:r>
              <a:rPr sz="1125" b="1">
                <a:solidFill>
                  <a:srgbClr val="176B4E"/>
                </a:solidFill>
              </a:rPr>
              <a:t>前沿技术标准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8DD1F7A3-92CF-41D3-93E1-32C2C30D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5124450"/>
            <a:ext cx="123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354"/>
                </a:solidFill>
              </a:defRPr>
            </a:pPr>
            <a:r>
              <a:rPr sz="1050" b="0">
                <a:solidFill>
                  <a:srgbClr val="183354"/>
                </a:solidFill>
              </a:rPr>
              <a:t>验证依据</a:t>
            </a:r>
          </a:p>
          <a:p xmlns:a="http://schemas.openxmlformats.org/drawingml/2006/main">
            <a:pPr algn="l">
              <a:defRPr sz="1050" b="0">
                <a:solidFill>
                  <a:srgbClr val="183354"/>
                </a:solidFill>
              </a:defRPr>
            </a:pPr>
            <a:r>
              <a:rPr sz="1050" b="0">
                <a:solidFill>
                  <a:srgbClr val="183354"/>
                </a:solidFill>
              </a:rPr>
              <a:t>标准草案输出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7A51E3FA-7DBA-4EBC-B765-8852BEFF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5924550"/>
            <a:ext cx="2000250" cy="1323975"/>
          </a:xfrm>
          <a:prstGeom xmlns:a="http://schemas.openxmlformats.org/drawingml/2006/main" prst="roundRect">
            <a:avLst>
              <a:gd name="adj" fmla="val 14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8CB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40890D70-2D0B-41A2-A145-9DC9B06A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601027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4E"/>
                </a:solidFill>
              </a:defRPr>
            </a:pPr>
            <a:r>
              <a:rPr sz="1275" b="1">
                <a:solidFill>
                  <a:srgbClr val="176B4E"/>
                </a:solidFill>
              </a:rPr>
              <a:t>▣  输出成果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2514DEB3-BF14-421C-A880-415520A8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8775" y="6391275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354"/>
                </a:solidFill>
              </a:defRPr>
            </a:pPr>
            <a:r>
              <a:rPr sz="1050" b="0">
                <a:solidFill>
                  <a:srgbClr val="183354"/>
                </a:solidFill>
              </a:rPr>
              <a:t>•  验证报告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59B7E6C8-583E-4734-8DE9-38A57EDD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8775" y="6619875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354"/>
                </a:solidFill>
              </a:defRPr>
            </a:pPr>
            <a:r>
              <a:rPr sz="1050" b="0">
                <a:solidFill>
                  <a:srgbClr val="183354"/>
                </a:solidFill>
              </a:rPr>
              <a:t>•  评估结论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F60CEE48-F6A5-4CDC-9498-A9E06C5A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8775" y="6848475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354"/>
                </a:solidFill>
              </a:defRPr>
            </a:pPr>
            <a:r>
              <a:rPr sz="1050" b="0">
                <a:solidFill>
                  <a:srgbClr val="183354"/>
                </a:solidFill>
              </a:rPr>
              <a:t>•  标准修订建议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5BB1CA6F-D1C6-4F15-BD73-E77509B1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8775" y="7077075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354"/>
                </a:solidFill>
              </a:defRPr>
            </a:pPr>
            <a:r>
              <a:rPr sz="1050" b="0">
                <a:solidFill>
                  <a:srgbClr val="183354"/>
                </a:solidFill>
              </a:rPr>
              <a:t>•  数据与资源沉淀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A433CF47-E008-4DD7-8536-4927CE91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600950"/>
            <a:ext cx="14859000" cy="7239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07386F"/>
          </a:solidFill>
          <a:ln xmlns:a="http://schemas.openxmlformats.org/drawingml/2006/main" w="9525">
            <a:solidFill>
              <a:srgbClr val="07386F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B031D2D7-EFBF-40A6-86B6-F02AAFE5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753350"/>
            <a:ext cx="15811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EF5F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86F"/>
                </a:solidFill>
              </a:defRPr>
            </a:pPr>
            <a:r>
              <a:rPr sz="1650" b="1">
                <a:solidFill>
                  <a:srgbClr val="07386F"/>
                </a:solidFill>
              </a:rPr>
              <a:t>核心目标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6D255539-05CA-4FB8-B891-2F62D729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7724775"/>
            <a:ext cx="1176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形成“软硬协同、虚实映射、两级联动、数据驱动、闭环迭代”的标准中试验证体系，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实现标准要求可测试化、验证资源可配置化、验证过程可追溯化、验证结果可量化、标准修订可闭环化。</a:t>
            </a:r>
          </a:p>
        </p:txBody>
      </p:sp>
    </p:spTree>
    <p:extLst>
      <p:ext uri="{BB962C8B-B14F-4D97-AF65-F5344CB8AC3E}">
        <p14:creationId xmlns:p14="http://schemas.microsoft.com/office/powerpoint/2010/main" val="17996481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2026-07-19T03:23:03.5490000Z</dcterms:created>
  <dcterms:modified xsi:type="dcterms:W3CDTF">2026-07-19T03:23:03.5490000Z</dcterms:modified>
</coreProperties>
</file>